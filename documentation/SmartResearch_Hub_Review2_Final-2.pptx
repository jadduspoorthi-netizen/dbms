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gXAcpynKgDkWJPGwMBofbe5ceF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5FD3727-4499-4C1B-93C1-C4E08F1A5161}">
  <a:tblStyle styleId="{75FD3727-4499-4C1B-93C1-C4E08F1A516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" name="Google Shape;10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" name="Google Shape;42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0" name="Google Shape;220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4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7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6.png"/><Relationship Id="rId7" Type="http://schemas.openxmlformats.org/officeDocument/2006/relationships/image" Target="../media/image11.png"/><Relationship Id="rId8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15.png"/><Relationship Id="rId6" Type="http://schemas.openxmlformats.org/officeDocument/2006/relationships/image" Target="../media/image2.png"/><Relationship Id="rId7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title_network_bg.png" id="13" name="Google Shape;1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"/>
          <p:cNvSpPr/>
          <p:nvPr/>
        </p:nvSpPr>
        <p:spPr>
          <a:xfrm>
            <a:off x="0" y="0"/>
            <a:ext cx="7223760" cy="6858000"/>
          </a:xfrm>
          <a:prstGeom prst="rect">
            <a:avLst/>
          </a:prstGeom>
          <a:solidFill>
            <a:srgbClr val="11132B">
              <a:alpha val="7215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685800" y="566928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DATABASE ENGINEERING  •  PROJECT REVIEW 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685800" y="1417320"/>
            <a:ext cx="7863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Cambria"/>
              <a:buNone/>
            </a:pPr>
            <a:r>
              <a:rPr b="1" lang="en-US" sz="5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SmartResearch Hub</a:t>
            </a:r>
            <a:endParaRPr sz="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685800" y="2395728"/>
            <a:ext cx="7498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900"/>
              <a:buFont typeface="Calibri"/>
              <a:buNone/>
            </a:pPr>
            <a:r>
              <a:rPr i="1" lang="en-US" sz="1900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AI-Powered Semantic Knowledge Repository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" name="Google Shape;18;p1"/>
          <p:cNvCxnSpPr/>
          <p:nvPr/>
        </p:nvCxnSpPr>
        <p:spPr>
          <a:xfrm>
            <a:off x="713232" y="3035808"/>
            <a:ext cx="4248382" cy="0"/>
          </a:xfrm>
          <a:prstGeom prst="straightConnector1">
            <a:avLst/>
          </a:prstGeom>
          <a:noFill/>
          <a:ln cap="flat" cmpd="sng" w="25400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1"/>
          <p:cNvSpPr/>
          <p:nvPr/>
        </p:nvSpPr>
        <p:spPr>
          <a:xfrm>
            <a:off x="685800" y="3337559"/>
            <a:ext cx="3657600" cy="13715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PRESENTED BY:</a:t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713232" y="3429000"/>
            <a:ext cx="3236977" cy="1581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9AA3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9AA3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3C4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9AA3C4"/>
                </a:solidFill>
                <a:latin typeface="Calibri"/>
                <a:ea typeface="Calibri"/>
                <a:cs typeface="Calibri"/>
                <a:sym typeface="Calibri"/>
              </a:rPr>
              <a:t>                       </a:t>
            </a:r>
            <a:r>
              <a:rPr lang="en-US"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2510030229-Spoorthi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                   2510030284-Akshitha</a:t>
            </a:r>
            <a:endParaRPr sz="145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436638" y="3348523"/>
            <a:ext cx="3236976" cy="696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1" sz="1100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1" sz="1100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1" sz="1100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GUIDE: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           </a:t>
            </a:r>
            <a:r>
              <a:rPr b="1" lang="en-US" sz="1200">
                <a:solidFill>
                  <a:srgbClr val="C9C9C9"/>
                </a:solidFill>
                <a:latin typeface="Calibri"/>
                <a:ea typeface="Calibri"/>
                <a:cs typeface="Calibri"/>
                <a:sym typeface="Calibri"/>
              </a:rPr>
              <a:t>Dr.Sai Sasidhar</a:t>
            </a:r>
            <a:endParaRPr b="1" sz="1100">
              <a:solidFill>
                <a:srgbClr val="C9C9C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1" sz="1100">
              <a:solidFill>
                <a:srgbClr val="C9C9C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1" sz="1100">
              <a:solidFill>
                <a:srgbClr val="C9C9C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1" sz="1100">
              <a:solidFill>
                <a:srgbClr val="C9C9C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434840" y="3657600"/>
            <a:ext cx="30175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Department</a:t>
            </a:r>
            <a:r>
              <a:rPr lang="en-US" sz="1200">
                <a:solidFill>
                  <a:srgbClr val="9AA3C4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200">
                <a:solidFill>
                  <a:srgbClr val="D4DBE5"/>
                </a:solidFill>
                <a:latin typeface="Calibri"/>
                <a:ea typeface="Calibri"/>
                <a:cs typeface="Calibri"/>
                <a:sym typeface="Calibri"/>
              </a:rPr>
              <a:t>CSE</a:t>
            </a:r>
            <a:endParaRPr sz="1450">
              <a:solidFill>
                <a:srgbClr val="D4DBE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Institution: </a:t>
            </a:r>
            <a:r>
              <a:rPr lang="en-US" sz="1200">
                <a:solidFill>
                  <a:srgbClr val="D4DBE5"/>
                </a:solidFill>
                <a:latin typeface="Calibri"/>
                <a:ea typeface="Calibri"/>
                <a:cs typeface="Calibri"/>
                <a:sym typeface="Calibri"/>
              </a:rPr>
              <a:t>KLH</a:t>
            </a:r>
            <a:endParaRPr sz="1450">
              <a:solidFill>
                <a:srgbClr val="D4DBE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9646920" y="1188720"/>
            <a:ext cx="566928" cy="566928"/>
          </a:xfrm>
          <a:prstGeom prst="ellipse">
            <a:avLst/>
          </a:prstGeom>
          <a:solidFill>
            <a:srgbClr val="2A2F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filetext_teal.png" id="24" name="Google Shape;2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82983" y="1324783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"/>
          <p:cNvSpPr/>
          <p:nvPr/>
        </p:nvSpPr>
        <p:spPr>
          <a:xfrm>
            <a:off x="10415016" y="1161288"/>
            <a:ext cx="18288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Research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Papers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" name="Google Shape;26;p1"/>
          <p:cNvCxnSpPr/>
          <p:nvPr/>
        </p:nvCxnSpPr>
        <p:spPr>
          <a:xfrm>
            <a:off x="9930384" y="1755648"/>
            <a:ext cx="0" cy="384048"/>
          </a:xfrm>
          <a:prstGeom prst="straightConnector1">
            <a:avLst/>
          </a:prstGeom>
          <a:noFill/>
          <a:ln cap="flat" cmpd="sng" w="19050">
            <a:solidFill>
              <a:srgbClr val="2EC4B6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7" name="Google Shape;27;p1"/>
          <p:cNvSpPr/>
          <p:nvPr/>
        </p:nvSpPr>
        <p:spPr>
          <a:xfrm>
            <a:off x="9646920" y="2395728"/>
            <a:ext cx="566928" cy="566928"/>
          </a:xfrm>
          <a:prstGeom prst="ellipse">
            <a:avLst/>
          </a:prstGeom>
          <a:solidFill>
            <a:srgbClr val="2A2F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hexagon_teal.png" id="28" name="Google Shape;28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82983" y="2531791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1"/>
          <p:cNvSpPr/>
          <p:nvPr/>
        </p:nvSpPr>
        <p:spPr>
          <a:xfrm>
            <a:off x="10415016" y="2368296"/>
            <a:ext cx="18288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Semantic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Nodes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" name="Google Shape;30;p1"/>
          <p:cNvCxnSpPr/>
          <p:nvPr/>
        </p:nvCxnSpPr>
        <p:spPr>
          <a:xfrm>
            <a:off x="9930384" y="2962656"/>
            <a:ext cx="0" cy="384048"/>
          </a:xfrm>
          <a:prstGeom prst="straightConnector1">
            <a:avLst/>
          </a:prstGeom>
          <a:noFill/>
          <a:ln cap="flat" cmpd="sng" w="19050">
            <a:solidFill>
              <a:srgbClr val="2EC4B6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1" name="Google Shape;31;p1"/>
          <p:cNvSpPr/>
          <p:nvPr/>
        </p:nvSpPr>
        <p:spPr>
          <a:xfrm>
            <a:off x="9646920" y="3602736"/>
            <a:ext cx="566928" cy="566928"/>
          </a:xfrm>
          <a:prstGeom prst="ellipse">
            <a:avLst/>
          </a:prstGeom>
          <a:solidFill>
            <a:srgbClr val="2A2F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network_teal.png" id="32" name="Google Shape;32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82983" y="3738799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"/>
          <p:cNvSpPr/>
          <p:nvPr/>
        </p:nvSpPr>
        <p:spPr>
          <a:xfrm>
            <a:off x="10415016" y="3575304"/>
            <a:ext cx="18288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" name="Google Shape;34;p1"/>
          <p:cNvCxnSpPr/>
          <p:nvPr/>
        </p:nvCxnSpPr>
        <p:spPr>
          <a:xfrm>
            <a:off x="9930384" y="4169664"/>
            <a:ext cx="0" cy="384048"/>
          </a:xfrm>
          <a:prstGeom prst="straightConnector1">
            <a:avLst/>
          </a:prstGeom>
          <a:noFill/>
          <a:ln cap="flat" cmpd="sng" w="19050">
            <a:solidFill>
              <a:srgbClr val="2EC4B6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5" name="Google Shape;35;p1"/>
          <p:cNvSpPr/>
          <p:nvPr/>
        </p:nvSpPr>
        <p:spPr>
          <a:xfrm>
            <a:off x="9646920" y="4809744"/>
            <a:ext cx="566928" cy="566928"/>
          </a:xfrm>
          <a:prstGeom prst="ellipse">
            <a:avLst/>
          </a:prstGeom>
          <a:solidFill>
            <a:srgbClr val="D98E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search_ink.png" id="36" name="Google Shape;36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82983" y="4945807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1"/>
          <p:cNvSpPr/>
          <p:nvPr/>
        </p:nvSpPr>
        <p:spPr>
          <a:xfrm>
            <a:off x="10415016" y="4782312"/>
            <a:ext cx="18288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Search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SmartResearch Hub — Review 2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11548872" y="6547104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"/>
          <p:cNvSpPr/>
          <p:nvPr/>
        </p:nvSpPr>
        <p:spPr>
          <a:xfrm>
            <a:off x="548640" y="36576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FROM REVIEW-1 FOUNDATION TO RESEARCH MOTIVATION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548640" y="621792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2500"/>
              <a:buFont typeface="Cambria"/>
              <a:buNone/>
            </a:pPr>
            <a:r>
              <a:rPr b="1" lang="en-US" sz="2500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From Information Overload to Intelligent Research Discovery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548640" y="1554480"/>
            <a:ext cx="5440680" cy="2697480"/>
          </a:xfrm>
          <a:prstGeom prst="roundRect">
            <a:avLst>
              <a:gd fmla="val 2712" name="adj"/>
            </a:avLst>
          </a:prstGeom>
          <a:solidFill>
            <a:srgbClr val="FBFBFC"/>
          </a:solidFill>
          <a:ln cap="flat" cmpd="sng" w="12700">
            <a:solidFill>
              <a:srgbClr val="E1E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777240" y="1810512"/>
            <a:ext cx="457200" cy="457200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bookopen_teal.png" id="49" name="Google Shape;4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110" y="1913382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2"/>
          <p:cNvSpPr/>
          <p:nvPr/>
        </p:nvSpPr>
        <p:spPr>
          <a:xfrm>
            <a:off x="1371600" y="1865376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822960" y="2395728"/>
            <a:ext cx="48920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Rapid growth of digital research literature makes discovery increasingly difficult.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8000"/>
              </a:lnSpc>
              <a:spcBef>
                <a:spcPts val="700"/>
              </a:spcBef>
              <a:spcAft>
                <a:spcPts val="0"/>
              </a:spcAft>
              <a:buClr>
                <a:srgbClr val="1B1F3B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Researchers must examine large volumes of papers to find relevant studies.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8000"/>
              </a:lnSpc>
              <a:spcBef>
                <a:spcPts val="700"/>
              </a:spcBef>
              <a:spcAft>
                <a:spcPts val="0"/>
              </a:spcAft>
              <a:buClr>
                <a:srgbClr val="1B1F3B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Keyword matching can miss conceptually related work using different terminology.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8000"/>
              </a:lnSpc>
              <a:spcBef>
                <a:spcPts val="700"/>
              </a:spcBef>
              <a:spcAft>
                <a:spcPts val="0"/>
              </a:spcAft>
              <a:buClr>
                <a:srgbClr val="1B1F3B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Semantic search represents meaning and context, not just exact words.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8000"/>
              </a:lnSpc>
              <a:spcBef>
                <a:spcPts val="700"/>
              </a:spcBef>
              <a:spcAft>
                <a:spcPts val="0"/>
              </a:spcAft>
              <a:buClr>
                <a:srgbClr val="1B1F3B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SmartResearch Hub combines semantic retrieval with organized paper management.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6199632" y="1554480"/>
            <a:ext cx="5440680" cy="2697480"/>
          </a:xfrm>
          <a:prstGeom prst="roundRect">
            <a:avLst>
              <a:gd fmla="val 2712" name="adj"/>
            </a:avLst>
          </a:prstGeom>
          <a:solidFill>
            <a:srgbClr val="1B1F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6428232" y="1810512"/>
            <a:ext cx="457200" cy="457200"/>
          </a:xfrm>
          <a:prstGeom prst="ellipse">
            <a:avLst/>
          </a:prstGeom>
          <a:solidFill>
            <a:srgbClr val="D98E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alert_ink.png" id="54" name="Google Shape;5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31102" y="1913382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2"/>
          <p:cNvSpPr/>
          <p:nvPr/>
        </p:nvSpPr>
        <p:spPr>
          <a:xfrm>
            <a:off x="7022592" y="1865376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6473952" y="2395728"/>
            <a:ext cx="493776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Research papers are scattered across multiple sources and repositories.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8000"/>
              </a:lnSpc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Keyword search can return irrelevant results or miss related research.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8000"/>
              </a:lnSpc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Researchers spend significant time filtering, comparing and organizing results.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8000"/>
              </a:lnSpc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Existing tools usually focus on a single capability — search, storage or retrieval alone.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8000"/>
              </a:lnSpc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 integrated repository supporting semantic retrieval and paper management is needed.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548640" y="4480560"/>
            <a:ext cx="11091672" cy="1417320"/>
          </a:xfrm>
          <a:prstGeom prst="roundRect">
            <a:avLst>
              <a:gd fmla="val 5161" name="adj"/>
            </a:avLst>
          </a:prstGeom>
          <a:solidFill>
            <a:srgbClr val="E4F8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1467612" y="4700016"/>
            <a:ext cx="585216" cy="5852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layers_teal.png" id="59" name="Google Shape;59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13916" y="4846320"/>
            <a:ext cx="292608" cy="292608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5400000" dist="5000" endA="0" endPos="28000" kx="0" rotWithShape="0" algn="bl" stA="38000" stPos="0" sy="-100000" ky="0"/>
          </a:effectLst>
        </p:spPr>
      </p:pic>
      <p:sp>
        <p:nvSpPr>
          <p:cNvPr id="60" name="Google Shape;60;p2"/>
          <p:cNvSpPr/>
          <p:nvPr/>
        </p:nvSpPr>
        <p:spPr>
          <a:xfrm>
            <a:off x="731520" y="5376672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Large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Research Volume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2670048" y="4901184"/>
            <a:ext cx="347472" cy="18288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C4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3634740" y="4700016"/>
            <a:ext cx="585216" cy="5852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filter_teal.png" id="63" name="Google Shape;63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81044" y="4846320"/>
            <a:ext cx="292608" cy="292608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5400000" dist="5000" endA="0" endPos="28000" kx="0" rotWithShape="0" algn="bl" stA="38000" stPos="0" sy="-100000" ky="0"/>
          </a:effectLst>
        </p:spPr>
      </p:pic>
      <p:sp>
        <p:nvSpPr>
          <p:cNvPr id="64" name="Google Shape;64;p2"/>
          <p:cNvSpPr/>
          <p:nvPr/>
        </p:nvSpPr>
        <p:spPr>
          <a:xfrm>
            <a:off x="2898648" y="5376672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Search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Difficulty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4837176" y="4901184"/>
            <a:ext cx="347472" cy="18288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C4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5801868" y="4700016"/>
            <a:ext cx="585216" cy="5852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alert_teal.png" id="67" name="Google Shape;6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8172" y="4846320"/>
            <a:ext cx="292608" cy="292608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5400000" dist="5000" endA="0" endPos="28000" kx="0" rotWithShape="0" algn="bl" stA="38000" stPos="0" sy="-100000" ky="0"/>
          </a:effectLst>
        </p:spPr>
      </p:pic>
      <p:sp>
        <p:nvSpPr>
          <p:cNvPr id="68" name="Google Shape;68;p2"/>
          <p:cNvSpPr/>
          <p:nvPr/>
        </p:nvSpPr>
        <p:spPr>
          <a:xfrm>
            <a:off x="5065776" y="5376672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Irrelevant /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Missed Results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7004304" y="4901184"/>
            <a:ext cx="347472" cy="18288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C4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7968996" y="4700016"/>
            <a:ext cx="585216" cy="5852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sliders_teal.png" id="71" name="Google Shape;71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15300" y="4846320"/>
            <a:ext cx="292608" cy="292608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5400000" dist="5000" endA="0" endPos="28000" kx="0" rotWithShape="0" algn="bl" stA="38000" stPos="0" sy="-100000" ky="0"/>
          </a:effectLst>
        </p:spPr>
      </p:pic>
      <p:sp>
        <p:nvSpPr>
          <p:cNvPr id="72" name="Google Shape;72;p2"/>
          <p:cNvSpPr/>
          <p:nvPr/>
        </p:nvSpPr>
        <p:spPr>
          <a:xfrm>
            <a:off x="7232904" y="5376672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Manual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Filtering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9171432" y="4901184"/>
            <a:ext cx="347472" cy="18288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C4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10136124" y="4700016"/>
            <a:ext cx="585216" cy="585216"/>
          </a:xfrm>
          <a:prstGeom prst="ellipse">
            <a:avLst/>
          </a:prstGeom>
          <a:solidFill>
            <a:srgbClr val="D98E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target_ink.png" id="75" name="Google Shape;75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282428" y="484632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2"/>
          <p:cNvSpPr/>
          <p:nvPr/>
        </p:nvSpPr>
        <p:spPr>
          <a:xfrm>
            <a:off x="9400032" y="5376672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Need for Semantic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Research Discovery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SmartResearch Hub — Review 2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11548872" y="6547104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"/>
          <p:cNvSpPr/>
          <p:nvPr/>
        </p:nvSpPr>
        <p:spPr>
          <a:xfrm>
            <a:off x="548640" y="329184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FOUNDATIONS FROM PRIOR RESEARCH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548640" y="585216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Literature Review — Semantic Representation &amp; Retrieval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6" name="Google Shape;86;p3"/>
          <p:cNvGraphicFramePr/>
          <p:nvPr/>
        </p:nvGraphicFramePr>
        <p:xfrm>
          <a:off x="440754" y="12271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{75FD3727-4499-4C1B-93C1-C4E08F1A5161}</a:tableStyleId>
              </a:tblPr>
              <a:tblGrid>
                <a:gridCol w="457200"/>
                <a:gridCol w="2331725"/>
                <a:gridCol w="548650"/>
                <a:gridCol w="1965950"/>
                <a:gridCol w="2103125"/>
                <a:gridCol w="2423150"/>
                <a:gridCol w="1444750"/>
              </a:tblGrid>
              <a:tr h="585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Paper / Authors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Year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Method / Approach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Dataset / Technology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 Finding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Limitation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1F3B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[1]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Devlin et al. — BERT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2019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Bidirectional Transformer pre-training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Large text corpora (Wikipedia, BooksCorpus)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Contextual language representation improves language understanding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 a retrieval system by itself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5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[2]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Reimers &amp; Gurevych — Sentence-BERT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2019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Siamese BERT network for sentence embeddings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Sentence-pair datasets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Efficient generation and comparison of sentence embeddings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Focused on sentence-level, not full documents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BFC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[3]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Beltagy, Lo &amp; Cohan — SciBERT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2019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Domain-adapted pretrained language model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Scientific publication corpus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Domain-aware representation improves scientific text understanding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Domain adaptation required for other fields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5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[4]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Karpukhin et al. — Dense Passage Retrieval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Dual-encoder dense vector retrieval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Open-domain QA datasets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Vector-based retrieval outperforms sparse keyword methods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Requires large-scale embedding indexing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BFC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[5]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Cohan et al. — SPECTER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Citation-informed transformer embeddings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Scientific paper citation graphs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Citation signals improve document-level scientific representation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Depends on availability of citation data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1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[6]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Khattab &amp; Zaharia — ColBERT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Late-interaction contextual retrieval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Passage retrieval benchmarks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Improves retrieval efficiency while preserving contextual detail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Increased indexing complexity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BFC"/>
                    </a:solidFill>
                  </a:tcPr>
                </a:tc>
              </a:tr>
              <a:tr h="95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[7]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Gottardi et al. — Semantic Search for Scientific Findability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Systematic literature review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Dataset / Corpus — Not specified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Synthesizes semantic search techniques for scientific findability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Review-based; no new system proposed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7" name="Google Shape;87;p3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SmartResearch Hub — Review 2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11548872" y="6547104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"/>
          <p:cNvSpPr/>
          <p:nvPr/>
        </p:nvSpPr>
        <p:spPr>
          <a:xfrm>
            <a:off x="548640" y="329184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WHERE THE OPPORTUNITY LIES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548640" y="585216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Research Gap Identified from Literature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548640" y="1417320"/>
            <a:ext cx="3566160" cy="3246120"/>
          </a:xfrm>
          <a:prstGeom prst="roundRect">
            <a:avLst>
              <a:gd fmla="val 2535" name="adj"/>
            </a:avLst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749808" y="1636776"/>
            <a:ext cx="438912" cy="438912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bookopen_white.png" id="98" name="Google Shape;9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563" y="1735531"/>
            <a:ext cx="241402" cy="241402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5400000" dist="5000" endA="0" endPos="28000" kx="0" rotWithShape="0" algn="bl" stA="38000" stPos="0" sy="-100000" ky="0"/>
          </a:effectLst>
        </p:spPr>
      </p:pic>
      <p:sp>
        <p:nvSpPr>
          <p:cNvPr id="99" name="Google Shape;99;p4"/>
          <p:cNvSpPr/>
          <p:nvPr/>
        </p:nvSpPr>
        <p:spPr>
          <a:xfrm>
            <a:off x="1316736" y="1636776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EXISTING WORK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749808" y="2286000"/>
            <a:ext cx="3163824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Keyword-based retrieval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Semantic representation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Dense retrieval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Scientific document embeddings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Academic repositories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4315968" y="1417320"/>
            <a:ext cx="3566160" cy="3246120"/>
          </a:xfrm>
          <a:prstGeom prst="roundRect">
            <a:avLst>
              <a:gd fmla="val 2535" name="adj"/>
            </a:avLst>
          </a:prstGeom>
          <a:solidFill>
            <a:srgbClr val="FBEB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4517136" y="1636776"/>
            <a:ext cx="438912" cy="438912"/>
          </a:xfrm>
          <a:prstGeom prst="ellipse">
            <a:avLst/>
          </a:prstGeom>
          <a:solidFill>
            <a:srgbClr val="D98E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alert_ink.png" id="103" name="Google Shape;10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5891" y="1735531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4"/>
          <p:cNvSpPr/>
          <p:nvPr/>
        </p:nvSpPr>
        <p:spPr>
          <a:xfrm>
            <a:off x="5048622" y="1619055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OBSERVED LIMITATIONS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4517136" y="2091070"/>
            <a:ext cx="3163824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Techniques often studied separately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Search &amp; repository management not integrated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Metadata and storage need organized management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Semantic retrieval needs specialized vector indexing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Manual filtering and comparison still needed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8083296" y="1417320"/>
            <a:ext cx="3566160" cy="3246120"/>
          </a:xfrm>
          <a:prstGeom prst="roundRect">
            <a:avLst>
              <a:gd fmla="val 2535" name="adj"/>
            </a:avLst>
          </a:prstGeom>
          <a:solidFill>
            <a:srgbClr val="1B1F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8284464" y="1636776"/>
            <a:ext cx="438912" cy="438912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target_ink.png" id="108" name="Google Shape;10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83219" y="1735531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4"/>
          <p:cNvSpPr/>
          <p:nvPr/>
        </p:nvSpPr>
        <p:spPr>
          <a:xfrm>
            <a:off x="8851392" y="1636776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IDENTIFIED OPPORTUNITY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8284464" y="2286000"/>
            <a:ext cx="3163824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i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Limited integration of semantic retrieval, research-paper storage, metadata management and vector-based similarity search within a unified academic repository.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722376" y="4983480"/>
            <a:ext cx="3246120" cy="777240"/>
          </a:xfrm>
          <a:prstGeom prst="roundRect">
            <a:avLst>
              <a:gd fmla="val 49412" name="adj"/>
            </a:avLst>
          </a:prstGeom>
          <a:solidFill>
            <a:srgbClr val="5B6B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722376" y="4983480"/>
            <a:ext cx="3246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LITERATURE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4023360" y="5257800"/>
            <a:ext cx="393192" cy="22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B1F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4453695" y="4983480"/>
            <a:ext cx="3246120" cy="777240"/>
          </a:xfrm>
          <a:prstGeom prst="roundRect">
            <a:avLst>
              <a:gd fmla="val 49412" name="adj"/>
            </a:avLst>
          </a:prstGeom>
          <a:solidFill>
            <a:srgbClr val="D98E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4471416" y="4983480"/>
            <a:ext cx="3246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32B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1132B"/>
                </a:solidFill>
                <a:latin typeface="Calibri"/>
                <a:ea typeface="Calibri"/>
                <a:cs typeface="Calibri"/>
                <a:sym typeface="Calibri"/>
              </a:rPr>
              <a:t>IDENTIFIED GAP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7772400" y="5257800"/>
            <a:ext cx="393192" cy="22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B1F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8220456" y="4983480"/>
            <a:ext cx="3246120" cy="777240"/>
          </a:xfrm>
          <a:prstGeom prst="roundRect">
            <a:avLst>
              <a:gd fmla="val 49412" name="adj"/>
            </a:avLst>
          </a:prstGeom>
          <a:solidFill>
            <a:srgbClr val="2EC4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8220456" y="4983480"/>
            <a:ext cx="3246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SMARTRESEARCH HUB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548640" y="5989320"/>
            <a:ext cx="110916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400"/>
              <a:buFont typeface="Calibri"/>
              <a:buNone/>
            </a:pPr>
            <a:r>
              <a:rPr i="1" lang="en-US" sz="1400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Based on the reviewed literature, existing studies primarily address individual aspects of semantic representation and retrieval, while there is an opportunity to integrate these capabilities with structured research-paper management.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SmartResearch Hub — Review 2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11548872" y="6547104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_gap.png" id="126" name="Google Shape;12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_critical.png" id="131" name="Google Shape;13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/>
          <p:nvPr/>
        </p:nvSpPr>
        <p:spPr>
          <a:xfrm>
            <a:off x="502920" y="292608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ADDRESSING THE GAP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SmartResearch Hub — Proposed Solution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502920" y="1097280"/>
            <a:ext cx="5943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PROPOSED SYSTEM WORKFLOW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502920" y="1371600"/>
            <a:ext cx="623621" cy="256032"/>
          </a:xfrm>
          <a:prstGeom prst="roundRect">
            <a:avLst>
              <a:gd fmla="val 50000" name="adj"/>
            </a:avLst>
          </a:prstGeom>
          <a:solidFill>
            <a:srgbClr val="E4F8F6"/>
          </a:solidFill>
          <a:ln cap="flat" cmpd="sng" w="9525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502920" y="1371600"/>
            <a:ext cx="623621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8F85"/>
              </a:buClr>
              <a:buSzPts val="830"/>
              <a:buFont typeface="Calibri"/>
              <a:buNone/>
            </a:pPr>
            <a:r>
              <a:rPr b="1" lang="en-US" sz="830">
                <a:solidFill>
                  <a:srgbClr val="1C8F85"/>
                </a:solidFill>
                <a:latin typeface="Calibri"/>
                <a:ea typeface="Calibri"/>
                <a:cs typeface="Calibri"/>
                <a:sym typeface="Calibri"/>
              </a:rPr>
              <a:t>FastAPI</a:t>
            </a:r>
            <a:endParaRPr sz="8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1217981" y="1371600"/>
            <a:ext cx="804672" cy="256032"/>
          </a:xfrm>
          <a:prstGeom prst="roundRect">
            <a:avLst>
              <a:gd fmla="val 50000" name="adj"/>
            </a:avLst>
          </a:prstGeom>
          <a:solidFill>
            <a:srgbClr val="E4F8F6"/>
          </a:solidFill>
          <a:ln cap="flat" cmpd="sng" w="9525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1217981" y="1371600"/>
            <a:ext cx="8046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8F85"/>
              </a:buClr>
              <a:buSzPts val="830"/>
              <a:buFont typeface="Calibri"/>
              <a:buNone/>
            </a:pPr>
            <a:r>
              <a:rPr b="1" lang="en-US" sz="830">
                <a:solidFill>
                  <a:srgbClr val="1C8F85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 sz="8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2114093" y="1371600"/>
            <a:ext cx="623621" cy="256032"/>
          </a:xfrm>
          <a:prstGeom prst="roundRect">
            <a:avLst>
              <a:gd fmla="val 50000" name="adj"/>
            </a:avLst>
          </a:prstGeom>
          <a:solidFill>
            <a:srgbClr val="E4F8F6"/>
          </a:solidFill>
          <a:ln cap="flat" cmpd="sng" w="9525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2114093" y="1371600"/>
            <a:ext cx="623621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8F85"/>
              </a:buClr>
              <a:buSzPts val="830"/>
              <a:buFont typeface="Calibri"/>
              <a:buNone/>
            </a:pPr>
            <a:r>
              <a:rPr b="1" lang="en-US" sz="830">
                <a:solidFill>
                  <a:srgbClr val="1C8F85"/>
                </a:solidFill>
                <a:latin typeface="Calibri"/>
                <a:ea typeface="Calibri"/>
                <a:cs typeface="Calibri"/>
                <a:sym typeface="Calibri"/>
              </a:rPr>
              <a:t>MongoDB</a:t>
            </a:r>
            <a:endParaRPr sz="8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2829154" y="1371600"/>
            <a:ext cx="683971" cy="256032"/>
          </a:xfrm>
          <a:prstGeom prst="roundRect">
            <a:avLst>
              <a:gd fmla="val 50000" name="adj"/>
            </a:avLst>
          </a:prstGeom>
          <a:solidFill>
            <a:srgbClr val="E4F8F6"/>
          </a:solidFill>
          <a:ln cap="flat" cmpd="sng" w="9525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2829154" y="1371600"/>
            <a:ext cx="683971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8F85"/>
              </a:buClr>
              <a:buSzPts val="830"/>
              <a:buFont typeface="Calibri"/>
              <a:buNone/>
            </a:pPr>
            <a:r>
              <a:rPr b="1" lang="en-US" sz="830">
                <a:solidFill>
                  <a:srgbClr val="1C8F85"/>
                </a:solidFill>
                <a:latin typeface="Calibri"/>
                <a:ea typeface="Calibri"/>
                <a:cs typeface="Calibri"/>
                <a:sym typeface="Calibri"/>
              </a:rPr>
              <a:t>pgvector</a:t>
            </a:r>
            <a:endParaRPr sz="8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3604565" y="1371600"/>
            <a:ext cx="563270" cy="256032"/>
          </a:xfrm>
          <a:prstGeom prst="roundRect">
            <a:avLst>
              <a:gd fmla="val 50000" name="adj"/>
            </a:avLst>
          </a:prstGeom>
          <a:solidFill>
            <a:srgbClr val="E4F8F6"/>
          </a:solidFill>
          <a:ln cap="flat" cmpd="sng" w="9525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3604565" y="1371600"/>
            <a:ext cx="56327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8F85"/>
              </a:buClr>
              <a:buSzPts val="830"/>
              <a:buFont typeface="Calibri"/>
              <a:buNone/>
            </a:pPr>
            <a:r>
              <a:rPr b="1" lang="en-US" sz="830">
                <a:solidFill>
                  <a:srgbClr val="1C8F85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sz="8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4259275" y="1371600"/>
            <a:ext cx="1347826" cy="256032"/>
          </a:xfrm>
          <a:prstGeom prst="roundRect">
            <a:avLst>
              <a:gd fmla="val 50000" name="adj"/>
            </a:avLst>
          </a:prstGeom>
          <a:solidFill>
            <a:srgbClr val="E4F8F6"/>
          </a:solidFill>
          <a:ln cap="flat" cmpd="sng" w="9525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4259275" y="1371600"/>
            <a:ext cx="134782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8F85"/>
              </a:buClr>
              <a:buSzPts val="830"/>
              <a:buFont typeface="Calibri"/>
              <a:buNone/>
            </a:pPr>
            <a:r>
              <a:rPr b="1" lang="en-US" sz="830">
                <a:solidFill>
                  <a:srgbClr val="1C8F85"/>
                </a:solidFill>
                <a:latin typeface="Calibri"/>
                <a:ea typeface="Calibri"/>
                <a:cs typeface="Calibri"/>
                <a:sym typeface="Calibri"/>
              </a:rPr>
              <a:t>Semantic Embeddings</a:t>
            </a:r>
            <a:endParaRPr sz="8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1143000" y="1783080"/>
            <a:ext cx="4663440" cy="274320"/>
          </a:xfrm>
          <a:prstGeom prst="roundRect">
            <a:avLst>
              <a:gd fmla="val 50000" name="adj"/>
            </a:avLst>
          </a:prstGeom>
          <a:solidFill>
            <a:srgbClr val="1B1F3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1143000" y="1783080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alibri"/>
              <a:buNone/>
            </a:pPr>
            <a:r>
              <a:rPr b="1" lang="en-US" sz="86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1143000" y="2139696"/>
            <a:ext cx="4663440" cy="274320"/>
          </a:xfrm>
          <a:prstGeom prst="roundRect">
            <a:avLst>
              <a:gd fmla="val 50000" name="adj"/>
            </a:avLst>
          </a:prstGeom>
          <a:solidFill>
            <a:srgbClr val="1B1F3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1143000" y="2139696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alibri"/>
              <a:buNone/>
            </a:pPr>
            <a:r>
              <a:rPr b="1" lang="en-US" sz="86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REGISTER / LOGIN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1143000" y="2496312"/>
            <a:ext cx="4663440" cy="274320"/>
          </a:xfrm>
          <a:prstGeom prst="roundRect">
            <a:avLst>
              <a:gd fmla="val 50000" name="adj"/>
            </a:avLst>
          </a:prstGeom>
          <a:solidFill>
            <a:srgbClr val="1B1F3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1143000" y="2496312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alibri"/>
              <a:buNone/>
            </a:pPr>
            <a:r>
              <a:rPr b="1" lang="en-US" sz="86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UPLOAD RESEARCH PAPER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1143000" y="2852928"/>
            <a:ext cx="4663440" cy="274320"/>
          </a:xfrm>
          <a:prstGeom prst="roundRect">
            <a:avLst>
              <a:gd fmla="val 50000" name="adj"/>
            </a:avLst>
          </a:prstGeom>
          <a:solidFill>
            <a:srgbClr val="1B1F3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1143000" y="2852928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alibri"/>
              <a:buNone/>
            </a:pPr>
            <a:r>
              <a:rPr b="1" lang="en-US" sz="86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PDF TEXT + METADATA EXTRACTION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1143000" y="3209544"/>
            <a:ext cx="4663440" cy="274320"/>
          </a:xfrm>
          <a:prstGeom prst="roundRect">
            <a:avLst>
              <a:gd fmla="val 50000" name="adj"/>
            </a:avLst>
          </a:prstGeom>
          <a:solidFill>
            <a:srgbClr val="1B1F3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1143000" y="3209544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alibri"/>
              <a:buNone/>
            </a:pPr>
            <a:r>
              <a:rPr b="1" lang="en-US" sz="86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GENERATE SEMANTIC EMBEDDING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1143000" y="3566160"/>
            <a:ext cx="2240280" cy="420624"/>
          </a:xfrm>
          <a:prstGeom prst="roundRect">
            <a:avLst>
              <a:gd fmla="val 19565" name="adj"/>
            </a:avLst>
          </a:prstGeom>
          <a:solidFill>
            <a:srgbClr val="2A2F5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1234440" y="3566160"/>
            <a:ext cx="2057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"/>
              <a:buFont typeface="Calibri"/>
              <a:buNone/>
            </a:pPr>
            <a:r>
              <a:rPr b="1" lang="en-US" sz="82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"/>
              <a:buFont typeface="Calibri"/>
              <a:buNone/>
            </a:pPr>
            <a:r>
              <a:rPr b="1" lang="en-US" sz="82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Structured Metadata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3566160" y="3566160"/>
            <a:ext cx="2240280" cy="420624"/>
          </a:xfrm>
          <a:prstGeom prst="roundRect">
            <a:avLst>
              <a:gd fmla="val 19565" name="adj"/>
            </a:avLst>
          </a:prstGeom>
          <a:solidFill>
            <a:srgbClr val="2A2F5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3657600" y="3566160"/>
            <a:ext cx="2057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"/>
              <a:buFont typeface="Calibri"/>
              <a:buNone/>
            </a:pPr>
            <a:r>
              <a:rPr b="1" lang="en-US" sz="82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MONGODB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"/>
              <a:buFont typeface="Calibri"/>
              <a:buNone/>
            </a:pPr>
            <a:r>
              <a:rPr b="1" lang="en-US" sz="82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Research Documents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1143000" y="4069080"/>
            <a:ext cx="4663440" cy="274320"/>
          </a:xfrm>
          <a:prstGeom prst="roundRect">
            <a:avLst>
              <a:gd fmla="val 50000" name="adj"/>
            </a:avLst>
          </a:prstGeom>
          <a:solidFill>
            <a:srgbClr val="D98E0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1143000" y="4069080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32B"/>
              </a:buClr>
              <a:buSzPts val="860"/>
              <a:buFont typeface="Calibri"/>
              <a:buNone/>
            </a:pPr>
            <a:r>
              <a:rPr b="1" lang="en-US" sz="860">
                <a:solidFill>
                  <a:srgbClr val="11132B"/>
                </a:solidFill>
                <a:latin typeface="Calibri"/>
                <a:ea typeface="Calibri"/>
                <a:cs typeface="Calibri"/>
                <a:sym typeface="Calibri"/>
              </a:rPr>
              <a:t>PGVECTOR — Vector Embeddings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1143000" y="4425696"/>
            <a:ext cx="4663440" cy="274320"/>
          </a:xfrm>
          <a:prstGeom prst="roundRect">
            <a:avLst>
              <a:gd fmla="val 50000" name="adj"/>
            </a:avLst>
          </a:prstGeom>
          <a:solidFill>
            <a:srgbClr val="1B1F3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1143000" y="4425696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alibri"/>
              <a:buNone/>
            </a:pPr>
            <a:r>
              <a:rPr b="1" lang="en-US" sz="86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NATURAL-LANGUAGE QUERY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1143000" y="4782312"/>
            <a:ext cx="4663440" cy="274320"/>
          </a:xfrm>
          <a:prstGeom prst="roundRect">
            <a:avLst>
              <a:gd fmla="val 50000" name="adj"/>
            </a:avLst>
          </a:prstGeom>
          <a:solidFill>
            <a:srgbClr val="1B1F3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1143000" y="4782312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alibri"/>
              <a:buNone/>
            </a:pPr>
            <a:r>
              <a:rPr b="1" lang="en-US" sz="86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SEMANTIC SIMILARITY SEARCH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1143000" y="5138928"/>
            <a:ext cx="4663440" cy="274320"/>
          </a:xfrm>
          <a:prstGeom prst="roundRect">
            <a:avLst>
              <a:gd fmla="val 50000" name="adj"/>
            </a:avLst>
          </a:prstGeom>
          <a:solidFill>
            <a:srgbClr val="1B1F3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1143000" y="5138928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alibri"/>
              <a:buNone/>
            </a:pPr>
            <a:r>
              <a:rPr b="1" lang="en-US" sz="86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RELEVANCE RANKING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1143000" y="5495544"/>
            <a:ext cx="4663440" cy="274320"/>
          </a:xfrm>
          <a:prstGeom prst="roundRect">
            <a:avLst>
              <a:gd fmla="val 50000" name="adj"/>
            </a:avLst>
          </a:prstGeom>
          <a:solidFill>
            <a:srgbClr val="1B1F3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1143000" y="5495544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alibri"/>
              <a:buNone/>
            </a:pPr>
            <a:r>
              <a:rPr b="1" lang="en-US" sz="86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RELEVANT RESEARCH PAPERS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1143000" y="5852160"/>
            <a:ext cx="4663440" cy="274320"/>
          </a:xfrm>
          <a:prstGeom prst="roundRect">
            <a:avLst>
              <a:gd fmla="val 50000" name="adj"/>
            </a:avLst>
          </a:prstGeom>
          <a:solidFill>
            <a:srgbClr val="2EC4B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1143000" y="5852160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32B"/>
              </a:buClr>
              <a:buSzPts val="860"/>
              <a:buFont typeface="Calibri"/>
              <a:buNone/>
            </a:pPr>
            <a:r>
              <a:rPr b="1" lang="en-US" sz="860">
                <a:solidFill>
                  <a:srgbClr val="11132B"/>
                </a:solidFill>
                <a:latin typeface="Calibri"/>
                <a:ea typeface="Calibri"/>
                <a:cs typeface="Calibri"/>
                <a:sym typeface="Calibri"/>
              </a:rPr>
              <a:t>RESEARCH DISCOVERY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3364992" y="2034540"/>
            <a:ext cx="219456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▾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3364992" y="2391156"/>
            <a:ext cx="219456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▾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3364992" y="2747772"/>
            <a:ext cx="219456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▾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3364992" y="3104388"/>
            <a:ext cx="219456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▾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3364992" y="3461004"/>
            <a:ext cx="219456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▾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3364992" y="4320540"/>
            <a:ext cx="219456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▾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3364992" y="4677156"/>
            <a:ext cx="219456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▾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3364992" y="5033772"/>
            <a:ext cx="219456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▾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3364992" y="5390388"/>
            <a:ext cx="219456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▾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3364992" y="5747004"/>
            <a:ext cx="219456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▾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8" name="Google Shape;188;p7"/>
          <p:cNvCxnSpPr/>
          <p:nvPr/>
        </p:nvCxnSpPr>
        <p:spPr>
          <a:xfrm>
            <a:off x="6492240" y="1133856"/>
            <a:ext cx="0" cy="5349240"/>
          </a:xfrm>
          <a:prstGeom prst="straightConnector1">
            <a:avLst/>
          </a:prstGeom>
          <a:noFill/>
          <a:ln cap="flat" cmpd="sng" w="12700">
            <a:solidFill>
              <a:srgbClr val="E1E4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9" name="Google Shape;189;p7"/>
          <p:cNvSpPr/>
          <p:nvPr/>
        </p:nvSpPr>
        <p:spPr>
          <a:xfrm>
            <a:off x="6720840" y="1133856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NOVELTY — THE INTEGRATION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6720840" y="1444752"/>
            <a:ext cx="4937760" cy="877824"/>
          </a:xfrm>
          <a:prstGeom prst="roundRect">
            <a:avLst>
              <a:gd fmla="val 8333" name="adj"/>
            </a:avLst>
          </a:prstGeom>
          <a:solidFill>
            <a:srgbClr val="FBFBFC"/>
          </a:solidFill>
          <a:ln cap="flat" cmpd="sng" w="9525">
            <a:solidFill>
              <a:srgbClr val="E1E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6848856" y="1655064"/>
            <a:ext cx="457200" cy="457200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search_teal.png" id="192" name="Google Shape;19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51726" y="1757934"/>
            <a:ext cx="251460" cy="251460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5400000" dist="5000" endA="0" endPos="28000" kx="0" rotWithShape="0" algn="bl" stA="38000" stPos="0" sy="-100000" ky="0"/>
          </a:effectLst>
        </p:spPr>
      </p:pic>
      <p:sp>
        <p:nvSpPr>
          <p:cNvPr id="193" name="Google Shape;193;p7"/>
          <p:cNvSpPr/>
          <p:nvPr/>
        </p:nvSpPr>
        <p:spPr>
          <a:xfrm>
            <a:off x="7434072" y="1536192"/>
            <a:ext cx="40782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Meaning-Based Retrieval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7434072" y="1828800"/>
            <a:ext cx="407822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Search based on semantic similarity rather than exact keywords alone.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6720840" y="2414016"/>
            <a:ext cx="4937760" cy="877824"/>
          </a:xfrm>
          <a:prstGeom prst="roundRect">
            <a:avLst>
              <a:gd fmla="val 8333" name="adj"/>
            </a:avLst>
          </a:prstGeom>
          <a:solidFill>
            <a:srgbClr val="FBFBFC"/>
          </a:solidFill>
          <a:ln cap="flat" cmpd="sng" w="9525">
            <a:solidFill>
              <a:srgbClr val="E1E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6848856" y="2624328"/>
            <a:ext cx="457200" cy="457200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gitmerge_teal.png" id="197" name="Google Shape;19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51726" y="2727198"/>
            <a:ext cx="251460" cy="251460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5400000" dist="5000" endA="0" endPos="28000" kx="0" rotWithShape="0" algn="bl" stA="38000" stPos="0" sy="-100000" ky="0"/>
          </a:effectLst>
        </p:spPr>
      </p:pic>
      <p:sp>
        <p:nvSpPr>
          <p:cNvPr id="198" name="Google Shape;198;p7"/>
          <p:cNvSpPr/>
          <p:nvPr/>
        </p:nvSpPr>
        <p:spPr>
          <a:xfrm>
            <a:off x="7434072" y="2505456"/>
            <a:ext cx="40782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Hybrid Data Management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7434072" y="2798064"/>
            <a:ext cx="407822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PostgreSQL for structured metadata and MongoDB for document-oriented storage.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6720840" y="3383280"/>
            <a:ext cx="4937760" cy="877824"/>
          </a:xfrm>
          <a:prstGeom prst="roundRect">
            <a:avLst>
              <a:gd fmla="val 8333" name="adj"/>
            </a:avLst>
          </a:prstGeom>
          <a:solidFill>
            <a:srgbClr val="FBFBFC"/>
          </a:solidFill>
          <a:ln cap="flat" cmpd="sng" w="9525">
            <a:solidFill>
              <a:srgbClr val="E1E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6848856" y="3593592"/>
            <a:ext cx="457200" cy="457200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vector_teal.png" id="202" name="Google Shape;20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51726" y="3696462"/>
            <a:ext cx="251460" cy="251460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5400000" dist="5000" endA="0" endPos="28000" kx="0" rotWithShape="0" algn="bl" stA="38000" stPos="0" sy="-100000" ky="0"/>
          </a:effectLst>
        </p:spPr>
      </p:pic>
      <p:sp>
        <p:nvSpPr>
          <p:cNvPr id="203" name="Google Shape;203;p7"/>
          <p:cNvSpPr/>
          <p:nvPr/>
        </p:nvSpPr>
        <p:spPr>
          <a:xfrm>
            <a:off x="7434072" y="3474720"/>
            <a:ext cx="40782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Vector-Based Search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7434072" y="3767328"/>
            <a:ext cx="407822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pgvector for storing and comparing semantic embeddings.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6720840" y="4352544"/>
            <a:ext cx="4937760" cy="877824"/>
          </a:xfrm>
          <a:prstGeom prst="roundRect">
            <a:avLst>
              <a:gd fmla="val 8333" name="adj"/>
            </a:avLst>
          </a:prstGeom>
          <a:solidFill>
            <a:srgbClr val="FBFBFC"/>
          </a:solidFill>
          <a:ln cap="flat" cmpd="sng" w="9525">
            <a:solidFill>
              <a:srgbClr val="E1E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6848856" y="4562856"/>
            <a:ext cx="457200" cy="457200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hexagon_teal.png" id="207" name="Google Shape;207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51726" y="4665726"/>
            <a:ext cx="251460" cy="251460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5400000" dist="5000" endA="0" endPos="28000" kx="0" rotWithShape="0" algn="bl" stA="38000" stPos="0" sy="-100000" ky="0"/>
          </a:effectLst>
        </p:spPr>
      </p:pic>
      <p:sp>
        <p:nvSpPr>
          <p:cNvPr id="208" name="Google Shape;208;p7"/>
          <p:cNvSpPr/>
          <p:nvPr/>
        </p:nvSpPr>
        <p:spPr>
          <a:xfrm>
            <a:off x="7434072" y="4443984"/>
            <a:ext cx="40782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Unified Research Repository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7434072" y="4736592"/>
            <a:ext cx="407822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Papers, metadata and semantic retrieval brought together in one system.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6720840" y="5321808"/>
            <a:ext cx="4937760" cy="877824"/>
          </a:xfrm>
          <a:prstGeom prst="roundRect">
            <a:avLst>
              <a:gd fmla="val 8333" name="adj"/>
            </a:avLst>
          </a:prstGeom>
          <a:solidFill>
            <a:srgbClr val="FBFBFC"/>
          </a:solidFill>
          <a:ln cap="flat" cmpd="sng" w="9525">
            <a:solidFill>
              <a:srgbClr val="E1E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6848856" y="5532120"/>
            <a:ext cx="457200" cy="457200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target_teal.png" id="212" name="Google Shape;212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51726" y="5634990"/>
            <a:ext cx="251460" cy="251460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5400000" dist="5000" endA="0" endPos="28000" kx="0" rotWithShape="0" algn="bl" stA="38000" stPos="0" sy="-100000" ky="0"/>
          </a:effectLst>
        </p:spPr>
      </p:pic>
      <p:sp>
        <p:nvSpPr>
          <p:cNvPr id="213" name="Google Shape;213;p7"/>
          <p:cNvSpPr/>
          <p:nvPr/>
        </p:nvSpPr>
        <p:spPr>
          <a:xfrm>
            <a:off x="7434072" y="5413248"/>
            <a:ext cx="40782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Research-Oriented Discovery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7434072" y="5705856"/>
            <a:ext cx="407822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Designed specifically for academic research-paper discovery.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6720840" y="6309360"/>
            <a:ext cx="4937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Novelty lies in the proposed integration and application of these technologies for an academic research repository — not in inventing semantic search itself.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SmartResearch Hub — Review 2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11548872" y="6547104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close_network_bg.png" id="223" name="Google Shape;22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8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32B">
              <a:alpha val="8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548640" y="329184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WHAT WE WILL DELIVER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548640" y="566928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Expected Product Outcome &amp; Conclusion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548640" y="1280160"/>
            <a:ext cx="11091672" cy="896112"/>
          </a:xfrm>
          <a:prstGeom prst="roundRect">
            <a:avLst>
              <a:gd fmla="val 9184" name="adj"/>
            </a:avLst>
          </a:prstGeom>
          <a:solidFill>
            <a:srgbClr val="2A2F55"/>
          </a:solidFill>
          <a:ln cap="flat" cmpd="sng" w="12700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8"/>
          <p:cNvSpPr/>
          <p:nvPr/>
        </p:nvSpPr>
        <p:spPr>
          <a:xfrm>
            <a:off x="822960" y="1280160"/>
            <a:ext cx="1051560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i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functional web-based SmartResearch Hub that allows users to upload and manage research papers, extract metadata, generate semantic embeddings, and retrieve relevant papers using natural-language semantic search.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548640" y="239572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EXPECTED CAPABILITIES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548640" y="2706624"/>
            <a:ext cx="33832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 registration and authentication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8000"/>
              </a:lnSpc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Research-paper PDF upload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8000"/>
              </a:lnSpc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Text and metadata extraction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8000"/>
              </a:lnSpc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Semantic embedding generation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8000"/>
              </a:lnSpc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Natural-language search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3977640" y="2706624"/>
            <a:ext cx="33832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Semantic similarity retrieval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8000"/>
              </a:lnSpc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Structured metadata management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8000"/>
              </a:lnSpc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Document storage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8000"/>
              </a:lnSpc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Vector-based search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8000"/>
              </a:lnSpc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Relevant paper display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7589520" y="2414016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EXPECTED IMPACT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7589520" y="2761488"/>
            <a:ext cx="3840480" cy="384048"/>
          </a:xfrm>
          <a:prstGeom prst="roundRect">
            <a:avLst>
              <a:gd fmla="val 50000" name="adj"/>
            </a:avLst>
          </a:prstGeom>
          <a:solidFill>
            <a:srgbClr val="2A2F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8"/>
          <p:cNvSpPr/>
          <p:nvPr/>
        </p:nvSpPr>
        <p:spPr>
          <a:xfrm>
            <a:off x="7589520" y="2761488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Faster Discovery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9372600" y="3145536"/>
            <a:ext cx="2743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▾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7589520" y="3291840"/>
            <a:ext cx="3840480" cy="384048"/>
          </a:xfrm>
          <a:prstGeom prst="roundRect">
            <a:avLst>
              <a:gd fmla="val 50000" name="adj"/>
            </a:avLst>
          </a:prstGeom>
          <a:solidFill>
            <a:srgbClr val="2A2F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8"/>
          <p:cNvSpPr/>
          <p:nvPr/>
        </p:nvSpPr>
        <p:spPr>
          <a:xfrm>
            <a:off x="7589520" y="3291840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Better Relevance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9372600" y="3675888"/>
            <a:ext cx="2743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▾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7589520" y="3822192"/>
            <a:ext cx="3840480" cy="384048"/>
          </a:xfrm>
          <a:prstGeom prst="roundRect">
            <a:avLst>
              <a:gd fmla="val 50000" name="adj"/>
            </a:avLst>
          </a:prstGeom>
          <a:solidFill>
            <a:srgbClr val="2A2F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"/>
          <p:cNvSpPr/>
          <p:nvPr/>
        </p:nvSpPr>
        <p:spPr>
          <a:xfrm>
            <a:off x="7589520" y="3822192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Organized Research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9372600" y="4206240"/>
            <a:ext cx="2743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▾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7589520" y="4352544"/>
            <a:ext cx="3840480" cy="384048"/>
          </a:xfrm>
          <a:prstGeom prst="roundRect">
            <a:avLst>
              <a:gd fmla="val 50000" name="adj"/>
            </a:avLst>
          </a:prstGeom>
          <a:solidFill>
            <a:srgbClr val="2EC4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8"/>
          <p:cNvSpPr/>
          <p:nvPr/>
        </p:nvSpPr>
        <p:spPr>
          <a:xfrm>
            <a:off x="7589520" y="4352544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32B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1132B"/>
                </a:solidFill>
                <a:latin typeface="Calibri"/>
                <a:ea typeface="Calibri"/>
                <a:cs typeface="Calibri"/>
                <a:sym typeface="Calibri"/>
              </a:rPr>
              <a:t>Reduced Manual Filtering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548640" y="489204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548640" y="5184648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DCF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D6DCF0"/>
                </a:solidFill>
                <a:latin typeface="Calibri"/>
                <a:ea typeface="Calibri"/>
                <a:cs typeface="Calibri"/>
                <a:sym typeface="Calibri"/>
              </a:rPr>
              <a:t>SmartResearch Hub addresses a practical research-discovery problem by combining semantic representation, vector-based retrieval and database-backed document management. The literature review establishes the technical foundation, while the critical analysis and research-gap analysis motivate an integrated repository architecture.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6" name="Google Shape;246;p8"/>
          <p:cNvCxnSpPr/>
          <p:nvPr/>
        </p:nvCxnSpPr>
        <p:spPr>
          <a:xfrm>
            <a:off x="548640" y="5870448"/>
            <a:ext cx="11091672" cy="0"/>
          </a:xfrm>
          <a:prstGeom prst="straightConnector1">
            <a:avLst/>
          </a:prstGeom>
          <a:noFill/>
          <a:ln cap="flat" cmpd="sng" w="12700">
            <a:solidFill>
              <a:srgbClr val="2A2F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7" name="Google Shape;247;p8"/>
          <p:cNvSpPr/>
          <p:nvPr/>
        </p:nvSpPr>
        <p:spPr>
          <a:xfrm>
            <a:off x="548640" y="5961888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500"/>
              <a:buFont typeface="Cambria"/>
              <a:buNone/>
            </a:pPr>
            <a:r>
              <a:rPr b="1" i="1" lang="en-US" sz="1500">
                <a:solidFill>
                  <a:srgbClr val="2EC4B6"/>
                </a:solidFill>
                <a:latin typeface="Cambria"/>
                <a:ea typeface="Cambria"/>
                <a:cs typeface="Cambria"/>
                <a:sym typeface="Cambria"/>
              </a:rPr>
              <a:t>From Searching for Papers  →  To Discovering Relevant Knowledge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8778240" y="5943600"/>
            <a:ext cx="286207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3C4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AA3C4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1B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891B5"/>
                </a:solidFill>
                <a:latin typeface="Calibri"/>
                <a:ea typeface="Calibri"/>
                <a:cs typeface="Calibri"/>
                <a:sym typeface="Calibri"/>
              </a:rPr>
              <a:t>SmartResearch Hub — Review 2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11548872" y="6547104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91B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891B5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2026-08-14T02:55:08Z</dcterms:created>
  <dc:creator>PptxGenJS</dc:creator>
</cp:coreProperties>
</file>