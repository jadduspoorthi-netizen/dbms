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yZTj8lu8oDQ6CLtvWDZa78OdF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136330-FBDE-44E0-81D1-C2074E2D446E}">
  <a:tblStyle styleId="{63136330-FBDE-44E0-81D1-C2074E2D44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698480" y="4572000"/>
            <a:ext cx="2743200" cy="2743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25CS1302E  </a:t>
            </a:r>
            <a:endParaRPr b="0" i="0" sz="1300" u="none" cap="none" strike="noStrike">
              <a:solidFill>
                <a:srgbClr val="38761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150876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SmartResearch Hub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60604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AI-Powered Semantic Knowledge Repository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246120"/>
            <a:ext cx="8961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AEBBD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i="1" lang="en-US" sz="1500">
                <a:solidFill>
                  <a:schemeClr val="dk1"/>
                </a:solidFill>
              </a:rPr>
              <a:t>An AI-powered semantic research repository for intelligent discovery and management of academic knowledge using hybrid database technologies</a:t>
            </a:r>
            <a:r>
              <a:rPr lang="en-US">
                <a:solidFill>
                  <a:schemeClr val="dk1"/>
                </a:solidFill>
              </a:rPr>
              <a:t>.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4434840"/>
            <a:ext cx="9418320" cy="1737360"/>
          </a:xfrm>
          <a:prstGeom prst="roundRect">
            <a:avLst>
              <a:gd fmla="val 6316" name="adj"/>
            </a:avLst>
          </a:prstGeom>
          <a:solidFill>
            <a:srgbClr val="1E2761"/>
          </a:solidFill>
          <a:ln cap="flat" cmpd="sng" w="12700">
            <a:solidFill>
              <a:srgbClr val="2C3A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1143000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17B890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43000" y="4983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Spoorthi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Akshitha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29000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000"/>
              <a:buFont typeface="Calibri"/>
              <a:buNone/>
            </a:pPr>
            <a:r>
              <a:rPr b="1" lang="en-US" sz="1500">
                <a:solidFill>
                  <a:srgbClr val="17B890"/>
                </a:solidFill>
                <a:latin typeface="Calibri"/>
                <a:ea typeface="Calibri"/>
                <a:cs typeface="Calibri"/>
                <a:sym typeface="Calibri"/>
              </a:rPr>
              <a:t>ROLL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429000" y="4983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2510030229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2510030284</a:t>
            </a:r>
            <a:endParaRPr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715000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000"/>
              <a:buFont typeface="Calibri"/>
              <a:buNone/>
            </a:pPr>
            <a:r>
              <a:rPr b="1" i="0" lang="en-US" sz="1500" u="none" cap="none" strike="noStrike">
                <a:solidFill>
                  <a:srgbClr val="17B890"/>
                </a:solidFill>
                <a:latin typeface="Calibri"/>
                <a:ea typeface="Calibri"/>
                <a:cs typeface="Calibri"/>
                <a:sym typeface="Calibri"/>
              </a:rPr>
              <a:t>DEPARTMENT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715000" y="4983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8001000" y="46634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000"/>
              <a:buFont typeface="Calibri"/>
              <a:buNone/>
            </a:pPr>
            <a:r>
              <a:rPr b="1" lang="en-US" sz="1500">
                <a:solidFill>
                  <a:srgbClr val="17B890"/>
                </a:solidFill>
                <a:latin typeface="Calibri"/>
                <a:ea typeface="Calibri"/>
                <a:cs typeface="Calibri"/>
                <a:sym typeface="Calibri"/>
              </a:rPr>
              <a:t>GUIDE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001000" y="4983480"/>
            <a:ext cx="2103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Sasidhar  Sir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188720" y="1389888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The number of research publications is increasing rapidly, making it difficult for researchers to efficiently identify relevant and high-quality literature.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48640" y="24231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188720" y="2350008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Traditional keyword-based search cannot understand the semantic meaning of user queries, often resulting in incomplete or less relevant search results.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188725" y="3264400"/>
            <a:ext cx="57606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Researchers spend considerable time manually reviewing and filtering research papers, reducing productivity and slowing the literature review process.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188720" y="4270248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lang="en-US">
                <a:solidFill>
                  <a:schemeClr val="dk1"/>
                </a:solidFill>
              </a:rPr>
              <a:t>Research papers are distributed across multiple repositories, making centralized knowledge management and efficient retrieval difficult.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548650" y="5184650"/>
            <a:ext cx="6400800" cy="1125000"/>
          </a:xfrm>
          <a:prstGeom prst="roundRect">
            <a:avLst>
              <a:gd fmla="val 11765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777240" y="5349240"/>
            <a:ext cx="5943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i="1" lang="en-US" sz="1500">
                <a:solidFill>
                  <a:schemeClr val="lt1"/>
                </a:solidFill>
              </a:rPr>
              <a:t>Therefore, an AI-powered semantic knowledge repository is required to understand user intent and retrieve the most relevant research papers based on meaning rather than exact keywords</a:t>
            </a:r>
            <a:endParaRPr b="1" i="1"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7406640" y="1188720"/>
            <a:ext cx="4206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TARGET USERS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406640" y="1638300"/>
            <a:ext cx="4206300" cy="594300"/>
          </a:xfrm>
          <a:prstGeom prst="roundRect">
            <a:avLst>
              <a:gd fmla="val 4923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543800" y="1718940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138110" y="1638288"/>
            <a:ext cx="338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7406640" y="2564890"/>
            <a:ext cx="4206300" cy="594300"/>
          </a:xfrm>
          <a:prstGeom prst="roundRect">
            <a:avLst>
              <a:gd fmla="val 49231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7543800" y="2679192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7543800" y="2625055"/>
            <a:ext cx="4389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138160" y="2564815"/>
            <a:ext cx="3383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406640" y="3342130"/>
            <a:ext cx="4206300" cy="594300"/>
          </a:xfrm>
          <a:prstGeom prst="roundRect">
            <a:avLst>
              <a:gd fmla="val 49231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7543800" y="3456432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543800" y="345643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138160" y="338328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Faculty Members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406640" y="4119370"/>
            <a:ext cx="4206300" cy="594300"/>
          </a:xfrm>
          <a:prstGeom prst="roundRect">
            <a:avLst>
              <a:gd fmla="val 49231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543800" y="4233672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7543800" y="423367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138160" y="416052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Academic Institutions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406677" y="4924048"/>
            <a:ext cx="4206300" cy="594300"/>
          </a:xfrm>
          <a:prstGeom prst="roundRect">
            <a:avLst>
              <a:gd fmla="val 49231" name="adj"/>
            </a:avLst>
          </a:prstGeom>
          <a:solidFill>
            <a:srgbClr val="CAD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543800" y="5010912"/>
            <a:ext cx="438912" cy="438912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543800" y="501091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6"/>
              <a:buFont typeface="Calibri"/>
              <a:buNone/>
            </a:pPr>
            <a:r>
              <a:rPr b="1" i="0" lang="en-US" sz="105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0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138160" y="4937760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Organizations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Need for the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i="1" lang="en-US">
                <a:solidFill>
                  <a:schemeClr val="accent1"/>
                </a:solidFill>
              </a:rPr>
              <a:t>The rapid growth of research publications has created significant challenges in organizing, managing, and retrieving relevant academic knowledge efficiently.</a:t>
            </a:r>
            <a:endParaRPr b="0" i="1" sz="15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48640" y="1554480"/>
            <a:ext cx="5486400" cy="4709160"/>
          </a:xfrm>
          <a:prstGeom prst="roundRect">
            <a:avLst>
              <a:gd fmla="val 233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868680" y="178308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7B890"/>
                </a:solidFill>
                <a:latin typeface="Calibri"/>
                <a:ea typeface="Calibri"/>
                <a:cs typeface="Calibri"/>
                <a:sym typeface="Calibri"/>
              </a:rPr>
              <a:t>THIS PROJECT IS NEEDED BECAUSE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9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417320" y="2194560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300">
                <a:solidFill>
                  <a:srgbClr val="FFFFFF"/>
                </a:solidFill>
              </a:rPr>
              <a:t>Traditional keyword-based search retrieves results based only on exact words and often fails to identify semantically related research papers.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68680" y="3246120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68680" y="3246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9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417320" y="3154680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300">
                <a:solidFill>
                  <a:srgbClr val="FFFFFF"/>
                </a:solidFill>
              </a:rPr>
              <a:t>Researchers spend considerable time manually reviewing large volumes of research papers, making literature surveys slow and inefficient.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68680" y="4206240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868680" y="4206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9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417320" y="4114800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300">
                <a:solidFill>
                  <a:srgbClr val="FFFFFF"/>
                </a:solidFill>
              </a:rPr>
              <a:t>Existing research repositories lack AI-driven semantic search and personalized recommendations for discovering related research.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68680" y="5166360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868680" y="5166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9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9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417320" y="5074920"/>
            <a:ext cx="44348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300">
                <a:solidFill>
                  <a:srgbClr val="FFFFFF"/>
                </a:solidFill>
              </a:rPr>
              <a:t>Most existing systems do not integrate structured data, document storage, and semantic embeddings within a single platform.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355080" y="1376180"/>
            <a:ext cx="530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Calibri"/>
              <a:buNone/>
            </a:pPr>
            <a:r>
              <a:rPr b="1" i="0" lang="en-US" sz="175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355080" y="2011680"/>
            <a:ext cx="5303520" cy="713232"/>
          </a:xfrm>
          <a:prstGeom prst="roundRect">
            <a:avLst>
              <a:gd fmla="val 1282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537960" y="2139696"/>
            <a:ext cx="457200" cy="45720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537960" y="21396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178040" y="2011680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Faster literature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355080" y="2907792"/>
            <a:ext cx="5303520" cy="713232"/>
          </a:xfrm>
          <a:prstGeom prst="roundRect">
            <a:avLst>
              <a:gd fmla="val 1282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537960" y="3035808"/>
            <a:ext cx="457200" cy="45720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537960" y="3035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7178040" y="2907792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Improved research productivity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355080" y="3803904"/>
            <a:ext cx="5303520" cy="713232"/>
          </a:xfrm>
          <a:prstGeom prst="roundRect">
            <a:avLst>
              <a:gd fmla="val 1282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6537960" y="3931920"/>
            <a:ext cx="457200" cy="45720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53796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178040" y="3803904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Better knowledge organization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355080" y="4700016"/>
            <a:ext cx="5303520" cy="713232"/>
          </a:xfrm>
          <a:prstGeom prst="roundRect">
            <a:avLst>
              <a:gd fmla="val 1282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537960" y="4828032"/>
            <a:ext cx="457200" cy="45720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537960" y="48280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7178040" y="4700016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AI-assisted research 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355080" y="5596128"/>
            <a:ext cx="5303520" cy="713232"/>
          </a:xfrm>
          <a:prstGeom prst="roundRect">
            <a:avLst>
              <a:gd fmla="val 1282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537960" y="5724144"/>
            <a:ext cx="457200" cy="45720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537960" y="57241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7178040" y="5596128"/>
            <a:ext cx="42976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Efficient information retrieval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Project Objectives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14173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E2761"/>
              </a:highlight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49808" y="175107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749808" y="1751076"/>
            <a:ext cx="502920" cy="502920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417320" y="15270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 a centralized repository for managing research papers.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355080" y="14173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556248" y="1751076"/>
            <a:ext cx="502920" cy="50292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556248" y="17510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223760" y="15270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Implement AaI-powered semantic search for accurate retrieval.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27889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749808" y="312267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49808" y="3122676"/>
            <a:ext cx="502920" cy="502920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417320" y="28986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Store structured metadata using PostgreSQL.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355080" y="27889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556248" y="3122676"/>
            <a:ext cx="502920" cy="50292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6556248" y="31226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223760" y="28986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Store research </a:t>
            </a:r>
            <a:r>
              <a:rPr lang="en-US" sz="16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docu</a:t>
            </a:r>
            <a:r>
              <a:rPr b="0" i="0" lang="en-US" sz="16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ments using MongoDB.</a:t>
            </a:r>
            <a:endParaRPr b="0" i="0" sz="16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48640" y="41605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749808" y="449427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749808" y="4494276"/>
            <a:ext cx="502920" cy="502920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1417320" y="42702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4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Store vector embeddings using pgvector for similarity search.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355080" y="41605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6556248" y="4494276"/>
            <a:ext cx="502920" cy="50292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556248" y="44942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223760" y="42702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 secure REST APIs </a:t>
            </a:r>
            <a:r>
              <a:rPr b="0" i="0" lang="en-US" sz="15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b="0" i="0" lang="en-US" sz="15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FastAPI.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" y="55321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749808" y="586587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749808" y="5865876"/>
            <a:ext cx="502920" cy="502920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417320" y="56418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Build a scalable and efficient backend architecture.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355080" y="5532120"/>
            <a:ext cx="5440680" cy="1170432"/>
          </a:xfrm>
          <a:prstGeom prst="roundRect">
            <a:avLst>
              <a:gd fmla="val 781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556248" y="5865876"/>
            <a:ext cx="502920" cy="502920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6556248" y="58658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0"/>
              <a:buFont typeface="Calibri"/>
              <a:buNone/>
            </a:pPr>
            <a:r>
              <a:rPr b="1" i="0" lang="en-US" sz="121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1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223760" y="5641848"/>
            <a:ext cx="438912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Improve research accessibility and knowledge sharing.</a:t>
            </a:r>
            <a:endParaRPr b="0" i="0" sz="16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Feasibility Analysis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548640" y="14173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SOFTWARE REQUIREMENTS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1783080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5" name="Google Shape;165;p9"/>
          <p:cNvSpPr/>
          <p:nvPr/>
        </p:nvSpPr>
        <p:spPr>
          <a:xfrm>
            <a:off x="548640" y="1783080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246120" y="1783080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7" name="Google Shape;167;p9"/>
          <p:cNvSpPr/>
          <p:nvPr/>
        </p:nvSpPr>
        <p:spPr>
          <a:xfrm>
            <a:off x="3246120" y="1783080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8640" y="2432304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9" name="Google Shape;169;p9"/>
          <p:cNvSpPr/>
          <p:nvPr/>
        </p:nvSpPr>
        <p:spPr>
          <a:xfrm>
            <a:off x="548640" y="2432304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46120" y="2432304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1" name="Google Shape;171;p9"/>
          <p:cNvSpPr/>
          <p:nvPr/>
        </p:nvSpPr>
        <p:spPr>
          <a:xfrm>
            <a:off x="3246120" y="2432304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3081528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3" name="Google Shape;173;p9"/>
          <p:cNvSpPr/>
          <p:nvPr/>
        </p:nvSpPr>
        <p:spPr>
          <a:xfrm>
            <a:off x="548640" y="3081528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pgvector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246120" y="3081528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5" name="Google Shape;175;p9"/>
          <p:cNvSpPr/>
          <p:nvPr/>
        </p:nvSpPr>
        <p:spPr>
          <a:xfrm>
            <a:off x="3246120" y="3081528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SQLAlchemy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48640" y="3730752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7" name="Google Shape;177;p9"/>
          <p:cNvSpPr/>
          <p:nvPr/>
        </p:nvSpPr>
        <p:spPr>
          <a:xfrm>
            <a:off x="548640" y="3730752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246120" y="3730752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9" name="Google Shape;179;p9"/>
          <p:cNvSpPr/>
          <p:nvPr/>
        </p:nvSpPr>
        <p:spPr>
          <a:xfrm>
            <a:off x="3246120" y="3730752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48640" y="4379976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1" name="Google Shape;181;p9"/>
          <p:cNvSpPr/>
          <p:nvPr/>
        </p:nvSpPr>
        <p:spPr>
          <a:xfrm>
            <a:off x="548640" y="4379976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246120" y="4379976"/>
            <a:ext cx="2514600" cy="502920"/>
          </a:xfrm>
          <a:prstGeom prst="roundRect">
            <a:avLst>
              <a:gd fmla="val 49091" name="adj"/>
            </a:avLst>
          </a:prstGeom>
          <a:solidFill>
            <a:srgbClr val="F4F7FD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3" name="Google Shape;183;p9"/>
          <p:cNvSpPr/>
          <p:nvPr/>
        </p:nvSpPr>
        <p:spPr>
          <a:xfrm>
            <a:off x="3246120" y="4379976"/>
            <a:ext cx="2514600" cy="502920"/>
          </a:xfrm>
          <a:prstGeom prst="rect">
            <a:avLst/>
          </a:prstGeom>
          <a:solidFill>
            <a:srgbClr val="AEBB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Postman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309360" y="1417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309360" y="1783080"/>
            <a:ext cx="5303520" cy="969264"/>
          </a:xfrm>
          <a:prstGeom prst="roundRect">
            <a:avLst>
              <a:gd fmla="val 943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6" name="Google Shape;186;p9"/>
          <p:cNvSpPr/>
          <p:nvPr/>
        </p:nvSpPr>
        <p:spPr>
          <a:xfrm>
            <a:off x="6492240" y="2002536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87" name="Google Shape;187;p9"/>
          <p:cNvSpPr/>
          <p:nvPr/>
        </p:nvSpPr>
        <p:spPr>
          <a:xfrm>
            <a:off x="6492240" y="200253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76"/>
              <a:buFont typeface="Calibri"/>
              <a:buNone/>
            </a:pPr>
            <a:r>
              <a:rPr b="1" i="0" lang="en-US" sz="1576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endParaRPr b="0" i="0" sz="15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223760" y="1892808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223760" y="2185416"/>
            <a:ext cx="4297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Uses modern, widely adopted technologies that support scalable backend development.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309360" y="2898648"/>
            <a:ext cx="5303520" cy="969264"/>
          </a:xfrm>
          <a:prstGeom prst="roundRect">
            <a:avLst>
              <a:gd fmla="val 9434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1" name="Google Shape;191;p9"/>
          <p:cNvSpPr/>
          <p:nvPr/>
        </p:nvSpPr>
        <p:spPr>
          <a:xfrm>
            <a:off x="6492240" y="3118104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2" name="Google Shape;192;p9"/>
          <p:cNvSpPr/>
          <p:nvPr/>
        </p:nvSpPr>
        <p:spPr>
          <a:xfrm>
            <a:off x="6492240" y="311810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276"/>
              <a:buFont typeface="Calibri"/>
              <a:buNone/>
            </a:pPr>
            <a:r>
              <a:rPr b="1" i="0" lang="en-US" sz="1576" u="none" cap="none" strike="noStrike">
                <a:solidFill>
                  <a:srgbClr val="17B890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endParaRPr b="0" i="0" sz="15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223760" y="3008376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223760" y="3300984"/>
            <a:ext cx="4297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4FBF4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E4FBF4"/>
                </a:solidFill>
                <a:latin typeface="Calibri"/>
                <a:ea typeface="Calibri"/>
                <a:cs typeface="Calibri"/>
                <a:sym typeface="Calibri"/>
              </a:rPr>
              <a:t>Easy for students, researchers, and faculty to use through a simple web interface.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309360" y="4014216"/>
            <a:ext cx="5303520" cy="969264"/>
          </a:xfrm>
          <a:prstGeom prst="roundRect">
            <a:avLst>
              <a:gd fmla="val 9434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6" name="Google Shape;196;p9"/>
          <p:cNvSpPr/>
          <p:nvPr/>
        </p:nvSpPr>
        <p:spPr>
          <a:xfrm>
            <a:off x="6492240" y="423367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7" name="Google Shape;197;p9"/>
          <p:cNvSpPr/>
          <p:nvPr/>
        </p:nvSpPr>
        <p:spPr>
          <a:xfrm>
            <a:off x="6492240" y="423367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76"/>
              <a:buFont typeface="Calibri"/>
              <a:buNone/>
            </a:pPr>
            <a:r>
              <a:rPr b="1" i="0" lang="en-US" sz="1576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EC</a:t>
            </a:r>
            <a:endParaRPr b="0" i="0" sz="15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7223760" y="4123944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Economic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7223760" y="4416552"/>
            <a:ext cx="4297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Built using open-source software, reducing development and deployment costs.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309360" y="5129784"/>
            <a:ext cx="5303520" cy="969264"/>
          </a:xfrm>
          <a:prstGeom prst="roundRect">
            <a:avLst>
              <a:gd fmla="val 9434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1" name="Google Shape;201;p9"/>
          <p:cNvSpPr/>
          <p:nvPr/>
        </p:nvSpPr>
        <p:spPr>
          <a:xfrm>
            <a:off x="6492240" y="5349240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2" name="Google Shape;202;p9"/>
          <p:cNvSpPr/>
          <p:nvPr/>
        </p:nvSpPr>
        <p:spPr>
          <a:xfrm>
            <a:off x="6492240" y="534924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B890"/>
              </a:buClr>
              <a:buSzPts val="1276"/>
              <a:buFont typeface="Calibri"/>
              <a:buNone/>
            </a:pPr>
            <a:r>
              <a:rPr b="1" i="0" lang="en-US" sz="1576" u="none" cap="none" strike="noStrike">
                <a:solidFill>
                  <a:srgbClr val="17B890"/>
                </a:solidFill>
                <a:latin typeface="Calibri"/>
                <a:ea typeface="Calibri"/>
                <a:cs typeface="Calibri"/>
                <a:sym typeface="Calibri"/>
              </a:rPr>
              <a:t>SC</a:t>
            </a:r>
            <a:endParaRPr b="0" i="0" sz="15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223760" y="523951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7223760" y="5532120"/>
            <a:ext cx="42976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4FBF4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E4FBF4"/>
                </a:solidFill>
                <a:latin typeface="Calibri"/>
                <a:ea typeface="Calibri"/>
                <a:cs typeface="Calibri"/>
                <a:sym typeface="Calibri"/>
              </a:rPr>
              <a:t>Can be completed within the academic semester through a phased development approach.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12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137160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50"/>
              <a:buFont typeface="Calibri"/>
              <a:buNone/>
            </a:pPr>
            <a:r>
              <a:rPr b="0" i="0" lang="en-US" sz="1550" u="none" cap="none" strike="noStrike">
                <a:solidFill>
                  <a:srgbClr val="212B4A"/>
                </a:solidFill>
                <a:latin typeface="Calibri"/>
                <a:ea typeface="Calibri"/>
                <a:cs typeface="Calibri"/>
                <a:sym typeface="Calibri"/>
              </a:rPr>
              <a:t>Users upload research papers; the system extracts text, generates AI semantic embeddings, and stores information across specialized databases. A natural-language search query is embedded and compared against stored vectors to retrieve papers by meaning — not exact keywords.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35075" y="2331725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5" name="Google Shape;215;p6"/>
          <p:cNvSpPr/>
          <p:nvPr/>
        </p:nvSpPr>
        <p:spPr>
          <a:xfrm>
            <a:off x="412402" y="2331725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Registration / Login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2538892" y="2331725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674215" y="2331725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" name="Google Shape;218;p6"/>
          <p:cNvSpPr/>
          <p:nvPr/>
        </p:nvSpPr>
        <p:spPr>
          <a:xfrm>
            <a:off x="2751542" y="2331725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Research Paper (PDF)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878032" y="2331725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013354" y="2331725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1" name="Google Shape;221;p6"/>
          <p:cNvSpPr/>
          <p:nvPr/>
        </p:nvSpPr>
        <p:spPr>
          <a:xfrm>
            <a:off x="5090681" y="2331725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 Text &amp; Metadata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7217172" y="2331725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7352494" y="2331725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4" name="Google Shape;224;p6"/>
          <p:cNvSpPr/>
          <p:nvPr/>
        </p:nvSpPr>
        <p:spPr>
          <a:xfrm>
            <a:off x="7429821" y="2331725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 AI Embeddings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9556311" y="2331725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9691633" y="2331725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7" name="Google Shape;227;p6"/>
          <p:cNvSpPr/>
          <p:nvPr/>
        </p:nvSpPr>
        <p:spPr>
          <a:xfrm>
            <a:off x="9768960" y="2331725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 Metadata → PostgreSQL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35075" y="4018876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9" name="Google Shape;229;p6"/>
          <p:cNvSpPr/>
          <p:nvPr/>
        </p:nvSpPr>
        <p:spPr>
          <a:xfrm>
            <a:off x="412402" y="4018876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 Document → MongoDB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538892" y="4018876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2674215" y="4018876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2" name="Google Shape;232;p6"/>
          <p:cNvSpPr/>
          <p:nvPr/>
        </p:nvSpPr>
        <p:spPr>
          <a:xfrm>
            <a:off x="2751542" y="4018876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 Embeddings → pgvector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878032" y="4018876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013354" y="4018876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5" name="Google Shape;235;p6"/>
          <p:cNvSpPr/>
          <p:nvPr/>
        </p:nvSpPr>
        <p:spPr>
          <a:xfrm>
            <a:off x="5090681" y="4018876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Search Query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7217172" y="4018876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7352494" y="4018876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8" name="Google Shape;238;p6"/>
          <p:cNvSpPr/>
          <p:nvPr/>
        </p:nvSpPr>
        <p:spPr>
          <a:xfrm>
            <a:off x="7429821" y="4018876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Similarity Search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9556311" y="4018876"/>
            <a:ext cx="1548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rPr b="1" i="0" lang="en-US" sz="20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9691633" y="4018876"/>
            <a:ext cx="2203800" cy="1135200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1" name="Google Shape;241;p6"/>
          <p:cNvSpPr/>
          <p:nvPr/>
        </p:nvSpPr>
        <p:spPr>
          <a:xfrm>
            <a:off x="9768960" y="4018876"/>
            <a:ext cx="20493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 Relevant Papers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10648554" y="3467004"/>
            <a:ext cx="2898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6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System Architecture &amp; Modules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48640" y="1371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548640" y="1691640"/>
            <a:ext cx="5303520" cy="566928"/>
          </a:xfrm>
          <a:prstGeom prst="roundRect">
            <a:avLst>
              <a:gd fmla="val 1290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3" name="Google Shape;253;p7"/>
          <p:cNvSpPr/>
          <p:nvPr/>
        </p:nvSpPr>
        <p:spPr>
          <a:xfrm>
            <a:off x="548640" y="169164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063240" y="2258568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48640" y="2368296"/>
            <a:ext cx="5303520" cy="566928"/>
          </a:xfrm>
          <a:prstGeom prst="roundRect">
            <a:avLst>
              <a:gd fmla="val 1290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6" name="Google Shape;256;p7"/>
          <p:cNvSpPr/>
          <p:nvPr/>
        </p:nvSpPr>
        <p:spPr>
          <a:xfrm>
            <a:off x="548640" y="2368296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063240" y="2935224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48640" y="3044952"/>
            <a:ext cx="5303520" cy="566928"/>
          </a:xfrm>
          <a:prstGeom prst="roundRect">
            <a:avLst>
              <a:gd fmla="val 1290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9" name="Google Shape;259;p7"/>
          <p:cNvSpPr/>
          <p:nvPr/>
        </p:nvSpPr>
        <p:spPr>
          <a:xfrm>
            <a:off x="548640" y="3044952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063240" y="3611880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48640" y="3721608"/>
            <a:ext cx="5303520" cy="566928"/>
          </a:xfrm>
          <a:prstGeom prst="roundRect">
            <a:avLst>
              <a:gd fmla="val 1290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2" name="Google Shape;262;p7"/>
          <p:cNvSpPr/>
          <p:nvPr/>
        </p:nvSpPr>
        <p:spPr>
          <a:xfrm>
            <a:off x="548640" y="3721608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· MongoDB · pgvector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063240" y="4288536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548640" y="4398264"/>
            <a:ext cx="5303520" cy="566928"/>
          </a:xfrm>
          <a:prstGeom prst="roundRect">
            <a:avLst>
              <a:gd fmla="val 1290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5" name="Google Shape;265;p7"/>
          <p:cNvSpPr/>
          <p:nvPr/>
        </p:nvSpPr>
        <p:spPr>
          <a:xfrm>
            <a:off x="548640" y="4398264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Search Engine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063240" y="4965192"/>
            <a:ext cx="27432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48640" y="5074920"/>
            <a:ext cx="5303520" cy="566928"/>
          </a:xfrm>
          <a:prstGeom prst="roundRect">
            <a:avLst>
              <a:gd fmla="val 12903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68" name="Google Shape;268;p7"/>
          <p:cNvSpPr/>
          <p:nvPr/>
        </p:nvSpPr>
        <p:spPr>
          <a:xfrm>
            <a:off x="548640" y="507492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 Results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PROJECT MODULES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309360" y="1691640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1" name="Google Shape;271;p7"/>
          <p:cNvSpPr/>
          <p:nvPr/>
        </p:nvSpPr>
        <p:spPr>
          <a:xfrm>
            <a:off x="6419088" y="1691640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User Authentication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9070848" y="1691640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3" name="Google Shape;273;p7"/>
          <p:cNvSpPr/>
          <p:nvPr/>
        </p:nvSpPr>
        <p:spPr>
          <a:xfrm>
            <a:off x="9180576" y="1691640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Research Paper Upload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309360" y="2532888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5" name="Google Shape;275;p7"/>
          <p:cNvSpPr/>
          <p:nvPr/>
        </p:nvSpPr>
        <p:spPr>
          <a:xfrm>
            <a:off x="6419088" y="2532888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PDF Processing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9070848" y="2532888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" name="Google Shape;277;p7"/>
          <p:cNvSpPr/>
          <p:nvPr/>
        </p:nvSpPr>
        <p:spPr>
          <a:xfrm>
            <a:off x="9180576" y="2532888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Metadata Extraction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6309360" y="3374136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9" name="Google Shape;279;p7"/>
          <p:cNvSpPr/>
          <p:nvPr/>
        </p:nvSpPr>
        <p:spPr>
          <a:xfrm>
            <a:off x="6419088" y="3374136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PostgreSQL Database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9070848" y="3374136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1" name="Google Shape;281;p7"/>
          <p:cNvSpPr/>
          <p:nvPr/>
        </p:nvSpPr>
        <p:spPr>
          <a:xfrm>
            <a:off x="9180576" y="3374136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MongoDB Database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309360" y="4215384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3" name="Google Shape;283;p7"/>
          <p:cNvSpPr/>
          <p:nvPr/>
        </p:nvSpPr>
        <p:spPr>
          <a:xfrm>
            <a:off x="6419088" y="4215384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Vector Database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9070848" y="4215384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7"/>
          <p:cNvSpPr/>
          <p:nvPr/>
        </p:nvSpPr>
        <p:spPr>
          <a:xfrm>
            <a:off x="9180576" y="4215384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Semantic Search Engine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309360" y="5056632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7" name="Google Shape;287;p7"/>
          <p:cNvSpPr/>
          <p:nvPr/>
        </p:nvSpPr>
        <p:spPr>
          <a:xfrm>
            <a:off x="6419088" y="5056632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Recommendation System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9070848" y="5056632"/>
            <a:ext cx="2542032" cy="658368"/>
          </a:xfrm>
          <a:prstGeom prst="roundRect">
            <a:avLst>
              <a:gd fmla="val 11111" name="adj"/>
            </a:avLst>
          </a:prstGeom>
          <a:solidFill>
            <a:srgbClr val="F4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9" name="Google Shape;289;p7"/>
          <p:cNvSpPr/>
          <p:nvPr/>
        </p:nvSpPr>
        <p:spPr>
          <a:xfrm>
            <a:off x="9180576" y="5056632"/>
            <a:ext cx="23225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Novelty of the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Unlike traditional research repositories, SmartResearch Hub focuses on semantic understanding instead of exact keyword matching.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48640" y="15087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KEY INNOVATIONS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1" name="Google Shape;301;p8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14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1051560" y="1819656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212B4A"/>
                </a:solidFill>
                <a:latin typeface="Calibri"/>
                <a:ea typeface="Calibri"/>
                <a:cs typeface="Calibri"/>
                <a:sym typeface="Calibri"/>
              </a:rPr>
              <a:t>AI-powered semantic search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4" name="Google Shape;304;p8"/>
          <p:cNvSpPr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14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051560" y="2478024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212B4A"/>
                </a:solidFill>
                <a:latin typeface="Calibri"/>
                <a:ea typeface="Calibri"/>
                <a:cs typeface="Calibri"/>
                <a:sym typeface="Calibri"/>
              </a:rPr>
              <a:t>Natural language query processing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48640" y="3191256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07" name="Google Shape;307;p8"/>
          <p:cNvSpPr/>
          <p:nvPr/>
        </p:nvSpPr>
        <p:spPr>
          <a:xfrm>
            <a:off x="548640" y="31912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14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051560" y="313639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212B4A"/>
                </a:solidFill>
                <a:latin typeface="Calibri"/>
                <a:ea typeface="Calibri"/>
                <a:cs typeface="Calibri"/>
                <a:sym typeface="Calibri"/>
              </a:rPr>
              <a:t>Hybrid database architecture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548640" y="3849624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0" name="Google Shape;310;p8"/>
          <p:cNvSpPr/>
          <p:nvPr/>
        </p:nvSpPr>
        <p:spPr>
          <a:xfrm>
            <a:off x="548640" y="38496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14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1051560" y="379476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212B4A"/>
                </a:solidFill>
                <a:latin typeface="Calibri"/>
                <a:ea typeface="Calibri"/>
                <a:cs typeface="Calibri"/>
                <a:sym typeface="Calibri"/>
              </a:rPr>
              <a:t>Vector database integration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48640" y="4507992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3" name="Google Shape;313;p8"/>
          <p:cNvSpPr/>
          <p:nvPr/>
        </p:nvSpPr>
        <p:spPr>
          <a:xfrm>
            <a:off x="548640" y="45079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14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051560" y="4453128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212B4A"/>
                </a:solidFill>
                <a:latin typeface="Calibri"/>
                <a:ea typeface="Calibri"/>
                <a:cs typeface="Calibri"/>
                <a:sym typeface="Calibri"/>
              </a:rPr>
              <a:t>Intelligent research recommendations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48640" y="5166360"/>
            <a:ext cx="384048" cy="384048"/>
          </a:xfrm>
          <a:prstGeom prst="ellipse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316" name="Google Shape;316;p8"/>
          <p:cNvSpPr/>
          <p:nvPr/>
        </p:nvSpPr>
        <p:spPr>
          <a:xfrm>
            <a:off x="548640" y="51663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4"/>
              <a:buFont typeface="Calibri"/>
              <a:buNone/>
            </a:pPr>
            <a:r>
              <a:rPr b="1" i="0" lang="en-US" sz="142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1051560" y="5111496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B4A"/>
              </a:buClr>
              <a:buSzPts val="1200"/>
              <a:buFont typeface="Calibri"/>
              <a:buNone/>
            </a:pPr>
            <a:r>
              <a:rPr b="0" i="0" lang="en-US" sz="1700" u="none" cap="none" strike="noStrike">
                <a:solidFill>
                  <a:srgbClr val="212B4A"/>
                </a:solidFill>
                <a:latin typeface="Calibri"/>
                <a:ea typeface="Calibri"/>
                <a:cs typeface="Calibri"/>
                <a:sym typeface="Calibri"/>
              </a:rPr>
              <a:t>Faster, more accurate retrieval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8" name="Google Shape;318;p8"/>
          <p:cNvGraphicFramePr/>
          <p:nvPr/>
        </p:nvGraphicFramePr>
        <p:xfrm>
          <a:off x="630936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{63136330-FBDE-44E0-81D1-C2074E2D446E}</a:tableStyleId>
              </a:tblPr>
              <a:tblGrid>
                <a:gridCol w="2651750"/>
                <a:gridCol w="26517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</a:rPr>
                        <a:t>Traditional Repository</a:t>
                      </a:r>
                      <a:endParaRPr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658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u="none" cap="none" strike="noStrike">
                          <a:solidFill>
                            <a:srgbClr val="FFFFFF"/>
                          </a:solidFill>
                        </a:rPr>
                        <a:t>SmartResearch Hub</a:t>
                      </a:r>
                      <a:endParaRPr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B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12B4A"/>
                          </a:solidFill>
                        </a:rPr>
                        <a:t>Keyword Search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</a:rPr>
                        <a:t>Semantic Search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B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12B4A"/>
                          </a:solidFill>
                        </a:rPr>
                        <a:t>Single Database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</a:rPr>
                        <a:t>Hybrid Database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BF4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B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12B4A"/>
                          </a:solidFill>
                        </a:rPr>
                        <a:t>Exact Match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</a:rPr>
                        <a:t>Meaning-Based Search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9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B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12B4A"/>
                          </a:solidFill>
                        </a:rPr>
                        <a:t>Limited Recommendations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</a:rPr>
                        <a:t>AI Recommendations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BF4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B4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350" u="none" cap="none" strike="noStrike">
                          <a:solidFill>
                            <a:srgbClr val="212B4A"/>
                          </a:solidFill>
                        </a:rPr>
                        <a:t>Manual Search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761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1E2761"/>
                          </a:solidFill>
                        </a:rPr>
                        <a:t>Intelligent Retrieval</a:t>
                      </a:r>
                      <a:endParaRPr sz="135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9"/>
                    </a:solidFill>
                  </a:tcPr>
                </a:tc>
              </a:tr>
            </a:tbl>
          </a:graphicData>
        </a:graphic>
      </p:graphicFrame>
      <p:sp>
        <p:nvSpPr>
          <p:cNvPr id="319" name="Google Shape;319;p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584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Project Implementation Plan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48640" y="914400"/>
            <a:ext cx="11064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12-week phased development schedule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48640" y="1508760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548640" y="1508760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1161288" y="1508760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548640" y="150876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1965960" y="150876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Requirement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548640" y="2258568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548640" y="2258568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1161288" y="2258568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548640" y="225856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1965960" y="225856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Survey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48640" y="3008376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548640" y="3008376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"/>
          <p:cNvSpPr/>
          <p:nvPr/>
        </p:nvSpPr>
        <p:spPr>
          <a:xfrm>
            <a:off x="1161288" y="3008376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548640" y="300837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965960" y="300837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548640" y="3758184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548640" y="3758184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1161288" y="3758184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548640" y="3758184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1965960" y="3758184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Development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48640" y="4507992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548640" y="4507992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1161288" y="4507992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48640" y="450799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1965960" y="450799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48640" y="5257800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548640" y="5257800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1161288" y="5257800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548640" y="525780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965960" y="525780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MongoDB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6400800" y="1508760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6400800" y="1508760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7013448" y="1508760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6400800" y="150876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7818120" y="150876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Vector Database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400800" y="2258568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6400800" y="2258568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7013448" y="2258568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6400800" y="2258568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7818120" y="2258568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Semantic Search Implementation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400800" y="3008376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6400800" y="3008376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7013448" y="3008376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6400800" y="3008376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7818120" y="3008376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Testing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6400800" y="3758184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6400800" y="3758184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7013448" y="3758184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6400800" y="3758184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7818120" y="3758184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Deployment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400800" y="4507992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6400800" y="4507992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7013448" y="4507992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6400800" y="4507992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7818120" y="4507992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6400800" y="5257800"/>
            <a:ext cx="5394960" cy="658368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400800" y="5257800"/>
            <a:ext cx="1234440" cy="658368"/>
          </a:xfrm>
          <a:prstGeom prst="roundRect">
            <a:avLst>
              <a:gd fmla="val 11111" name="adj"/>
            </a:avLst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7013448" y="5257800"/>
            <a:ext cx="621792" cy="658368"/>
          </a:xfrm>
          <a:prstGeom prst="rect">
            <a:avLst/>
          </a:prstGeom>
          <a:solidFill>
            <a:srgbClr val="17B8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0"/>
          <p:cNvSpPr/>
          <p:nvPr/>
        </p:nvSpPr>
        <p:spPr>
          <a:xfrm>
            <a:off x="6400800" y="5257800"/>
            <a:ext cx="12344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3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41B3C"/>
                </a:solidFill>
                <a:latin typeface="Calibri"/>
                <a:ea typeface="Calibri"/>
                <a:cs typeface="Calibri"/>
                <a:sym typeface="Calibri"/>
              </a:rPr>
              <a:t>Week 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7818120" y="5257800"/>
            <a:ext cx="3840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Demonstration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SmartResearch Hub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11365992" y="6547104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2026-08-02T15:59:52Z</dcterms:created>
  <dc:creator>PptxGenJS</dc:creator>
</cp:coreProperties>
</file>